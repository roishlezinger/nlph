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2" r:id="rId16"/>
    <p:sldId id="273" r:id="rId17"/>
    <p:sldId id="274" r:id="rId18"/>
  </p:sldIdLst>
  <p:sldSz cx="10080625" cy="7559675"/>
  <p:notesSz cx="7559675" cy="10691813"/>
  <p:embeddedFontLst>
    <p:embeddedFont>
      <p:font typeface="Gisha" panose="020B0502040204020203" pitchFamily="34" charset="-79"/>
      <p:regular r:id="rId20"/>
      <p:bold r:id="rId21"/>
    </p:embeddedFont>
    <p:embeddedFont>
      <p:font typeface="Wingdings 3" panose="05040102010807070707" pitchFamily="18" charset="2"/>
      <p:regular r:id="rId22"/>
    </p:embeddedFont>
    <p:embeddedFont>
      <p:font typeface="Roboto" panose="020B0604020202020204" charset="0"/>
      <p:regular r:id="rId23"/>
      <p:bold r:id="rId24"/>
      <p:italic r:id="rId25"/>
      <p:boldItalic r:id="rId26"/>
    </p:embeddedFont>
    <p:embeddedFont>
      <p:font typeface="Century Gothic" panose="020B050202020202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ZMGA9NrwRhMIyvo/bvxO3Sy/w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ab363c495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8ab363c495_3_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 smtClean="0"/>
              <a:t>הקשר</a:t>
            </a:r>
            <a:r>
              <a:rPr lang="he-IL" baseline="0" dirty="0" smtClean="0"/>
              <a:t> בין גורמים סימפטומים וטיפולים שונים</a:t>
            </a:r>
            <a:endParaRPr dirty="0"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8ab363c495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8ab363c495_1_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ab25390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ab2539088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ab363c495_2_2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8ab363c495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ab363c495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ab363c495_2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778963" y="1289632"/>
            <a:ext cx="5308021" cy="550474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037" y="587975"/>
            <a:ext cx="6785144" cy="3443853"/>
          </a:xfrm>
        </p:spPr>
        <p:txBody>
          <a:bodyPr anchor="b">
            <a:normAutofit/>
          </a:bodyPr>
          <a:lstStyle>
            <a:lvl1pPr algn="l">
              <a:defRPr sz="4850">
                <a:effectLst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036" y="4237153"/>
            <a:ext cx="5461717" cy="2109242"/>
          </a:xfrm>
        </p:spPr>
        <p:txBody>
          <a:bodyPr anchor="t">
            <a:normAutofit/>
          </a:bodyPr>
          <a:lstStyle>
            <a:lvl1pPr marL="0" indent="0" algn="l">
              <a:buNone/>
              <a:defRPr sz="2205">
                <a:solidFill>
                  <a:schemeClr val="bg2">
                    <a:lumMod val="75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753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4955787"/>
            <a:ext cx="7226286" cy="1679928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037" y="587975"/>
            <a:ext cx="7226286" cy="4153158"/>
          </a:xfrm>
        </p:spPr>
        <p:txBody>
          <a:bodyPr anchor="ctr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948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2183905"/>
            <a:ext cx="7058276" cy="2557224"/>
          </a:xfrm>
        </p:spPr>
        <p:txBody>
          <a:bodyPr anchor="b">
            <a:normAutofit/>
          </a:bodyPr>
          <a:lstStyle>
            <a:lvl1pPr algn="l">
              <a:defRPr sz="3527" b="0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37" y="4946454"/>
            <a:ext cx="7058275" cy="1689261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bg2">
                    <a:lumMod val="7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013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4955787"/>
            <a:ext cx="7226286" cy="1679928"/>
          </a:xfrm>
        </p:spPr>
        <p:txBody>
          <a:bodyPr>
            <a:normAutofit/>
          </a:bodyPr>
          <a:lstStyle>
            <a:lvl1pPr>
              <a:defRPr sz="3527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88037" y="587975"/>
            <a:ext cx="4354564" cy="4153155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5139930" y="587975"/>
            <a:ext cx="4352658" cy="4143822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735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4955787"/>
            <a:ext cx="7226286" cy="1679928"/>
          </a:xfrm>
        </p:spPr>
        <p:txBody>
          <a:bodyPr>
            <a:normAutofit/>
          </a:bodyPr>
          <a:lstStyle>
            <a:lvl1pPr>
              <a:defRPr sz="3527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53" y="587975"/>
            <a:ext cx="4097587" cy="671971"/>
          </a:xfrm>
        </p:spPr>
        <p:txBody>
          <a:bodyPr anchor="b">
            <a:noAutofit/>
          </a:bodyPr>
          <a:lstStyle>
            <a:lvl1pPr marL="0" indent="0">
              <a:buNone/>
              <a:defRPr sz="2646" b="0" cap="all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036" y="1259946"/>
            <a:ext cx="4349603" cy="3481184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52318" y="624724"/>
            <a:ext cx="414960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 cap="all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931" y="1259946"/>
            <a:ext cx="4361992" cy="3471851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162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4955787"/>
            <a:ext cx="7226286" cy="1679928"/>
          </a:xfrm>
        </p:spPr>
        <p:txBody>
          <a:bodyPr>
            <a:normAutofit/>
          </a:bodyPr>
          <a:lstStyle>
            <a:lvl1pPr>
              <a:defRPr sz="3527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791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78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3704" y="587975"/>
            <a:ext cx="3528219" cy="1679928"/>
          </a:xfrm>
        </p:spPr>
        <p:txBody>
          <a:bodyPr anchor="b">
            <a:normAutofit/>
          </a:bodyPr>
          <a:lstStyle>
            <a:lvl1pPr algn="l">
              <a:defRPr sz="2205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036" y="587975"/>
            <a:ext cx="4893419" cy="6047740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3704" y="2435898"/>
            <a:ext cx="3528219" cy="2305235"/>
          </a:xfrm>
        </p:spPr>
        <p:txBody>
          <a:bodyPr anchor="t">
            <a:normAutofit/>
          </a:bodyPr>
          <a:lstStyle>
            <a:lvl1pPr marL="0" indent="0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860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6308" y="1595931"/>
            <a:ext cx="3928244" cy="1259946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840052" y="1007956"/>
            <a:ext cx="3617046" cy="5291773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6558" y="3023870"/>
            <a:ext cx="3929308" cy="2295901"/>
          </a:xfrm>
        </p:spPr>
        <p:txBody>
          <a:bodyPr anchor="t">
            <a:normAutofit/>
          </a:bodyPr>
          <a:lstStyle>
            <a:lvl1pPr marL="0" indent="0">
              <a:buNone/>
              <a:defRPr sz="198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8037" y="6803708"/>
            <a:ext cx="6407022" cy="4024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469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4955787"/>
            <a:ext cx="7226286" cy="1679928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88037" y="587975"/>
            <a:ext cx="8904552" cy="3443852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840054" y="4237152"/>
            <a:ext cx="8027163" cy="503978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764"/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219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587975"/>
            <a:ext cx="8904552" cy="3191863"/>
          </a:xfrm>
        </p:spPr>
        <p:txBody>
          <a:bodyPr anchor="ctr">
            <a:normAutofit/>
          </a:bodyPr>
          <a:lstStyle>
            <a:lvl1pPr algn="l">
              <a:defRPr sz="3086" b="0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36" y="4535805"/>
            <a:ext cx="7037423" cy="2099910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bg2">
                    <a:lumMod val="7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860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993" y="587975"/>
            <a:ext cx="7562439" cy="3191863"/>
          </a:xfrm>
        </p:spPr>
        <p:txBody>
          <a:bodyPr anchor="ctr">
            <a:normAutofit/>
          </a:bodyPr>
          <a:lstStyle>
            <a:lvl1pPr algn="l">
              <a:defRPr sz="3086" b="0" cap="all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76074" y="3779838"/>
            <a:ext cx="7058275" cy="531977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37" y="4741133"/>
            <a:ext cx="7036110" cy="1894582"/>
          </a:xfrm>
        </p:spPr>
        <p:txBody>
          <a:bodyPr anchor="ctr">
            <a:normAutofit/>
          </a:bodyPr>
          <a:lstStyle>
            <a:lvl1pPr marL="0" indent="0" algn="l">
              <a:buNone/>
              <a:defRPr sz="2205">
                <a:solidFill>
                  <a:schemeClr val="bg2">
                    <a:lumMod val="7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52016" y="783331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4527" y="3051870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 algn="r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65090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3779838"/>
            <a:ext cx="7036110" cy="1871069"/>
          </a:xfrm>
        </p:spPr>
        <p:txBody>
          <a:bodyPr anchor="b">
            <a:normAutofit/>
          </a:bodyPr>
          <a:lstStyle>
            <a:lvl1pPr algn="l">
              <a:defRPr sz="3086" b="0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36" y="5658160"/>
            <a:ext cx="7037423" cy="977554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bg2">
                    <a:lumMod val="7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306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993" y="587975"/>
            <a:ext cx="7562438" cy="3191863"/>
          </a:xfrm>
        </p:spPr>
        <p:txBody>
          <a:bodyPr anchor="ctr">
            <a:normAutofit/>
          </a:bodyPr>
          <a:lstStyle>
            <a:lvl1pPr algn="l">
              <a:defRPr sz="3086" b="0" cap="all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88037" y="4283816"/>
            <a:ext cx="7036110" cy="1157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205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36" y="5459766"/>
            <a:ext cx="7036109" cy="1175949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bg2">
                    <a:lumMod val="7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52016" y="783331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4527" y="3051870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 algn="r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49378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587975"/>
            <a:ext cx="8296515" cy="31918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086" b="0" dirty="0"/>
            </a:lvl1pPr>
          </a:lstStyle>
          <a:p>
            <a:pPr marL="0" lvl="0"/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88037" y="4330481"/>
            <a:ext cx="7036110" cy="92396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205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36" y="5254443"/>
            <a:ext cx="7036109" cy="1381272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bg2">
                    <a:lumMod val="7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445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37" y="4955787"/>
            <a:ext cx="7226286" cy="1679928"/>
          </a:xfrm>
        </p:spPr>
        <p:txBody>
          <a:bodyPr>
            <a:normAutofit/>
          </a:bodyPr>
          <a:lstStyle>
            <a:lvl1pPr algn="l">
              <a:defRPr sz="3086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8037" y="587976"/>
            <a:ext cx="7226286" cy="4153158"/>
          </a:xfrm>
        </p:spPr>
        <p:txBody>
          <a:bodyPr vert="eaVert" anchor="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335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7" y="587975"/>
            <a:ext cx="2253582" cy="4871791"/>
          </a:xfrm>
        </p:spPr>
        <p:txBody>
          <a:bodyPr vert="eaVert">
            <a:normAutofit/>
          </a:bodyPr>
          <a:lstStyle>
            <a:lvl1pPr>
              <a:defRPr sz="3086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8036" y="587975"/>
            <a:ext cx="6449232" cy="6047740"/>
          </a:xfrm>
        </p:spPr>
        <p:txBody>
          <a:bodyPr vert="eaVert" anchor="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5190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ab363c495_0_204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4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8ab363c495_0_204"/>
          <p:cNvSpPr txBox="1">
            <a:spLocks noGrp="1"/>
          </p:cNvSpPr>
          <p:nvPr>
            <p:ph type="subTitle" idx="1"/>
          </p:nvPr>
        </p:nvSpPr>
        <p:spPr>
          <a:xfrm>
            <a:off x="2282400" y="1769040"/>
            <a:ext cx="5514600" cy="43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algn="r" rtl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lvl="2" algn="r" rtl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lvl="3" algn="r" rtl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lvl="4" algn="r" rtl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lvl="5" algn="r" rtl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lvl="6" algn="r" rtl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lvl="7" algn="r" rtl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lvl="8" algn="r" rtl="1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034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353956" y="4293150"/>
            <a:ext cx="2723506" cy="2930540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037" y="4955787"/>
            <a:ext cx="7226286" cy="167992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37" y="587976"/>
            <a:ext cx="7226286" cy="415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91330" y="6803711"/>
            <a:ext cx="1323427" cy="40248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2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8037" y="6803708"/>
            <a:ext cx="6407022" cy="40248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2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70766" y="6149240"/>
            <a:ext cx="944680" cy="7384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086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35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hf sldNum="0" hdr="0" ftr="0" dt="0"/>
  <p:txStyles>
    <p:titleStyle>
      <a:lvl1pPr algn="l" defTabSz="503972" rtl="1" eaLnBrk="1" latinLnBrk="0" hangingPunct="1">
        <a:spcBef>
          <a:spcPct val="0"/>
        </a:spcBef>
        <a:buNone/>
        <a:defRPr sz="3527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14982" indent="-314982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205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818954" indent="-314982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84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322925" indent="-314982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764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700904" indent="-188989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4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204876" indent="-188989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4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771844" indent="-251986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4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3275815" indent="-251986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4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779787" indent="-251986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4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4283758" indent="-251986" algn="r" defTabSz="503972" rtl="1" eaLnBrk="1" latinLnBrk="0" hangingPunct="1">
        <a:spcBef>
          <a:spcPct val="20000"/>
        </a:spcBef>
        <a:spcAft>
          <a:spcPts val="661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4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r" defTabSz="503972" rtl="1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385" y="4442691"/>
            <a:ext cx="5343980" cy="256634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504675" y="1302326"/>
            <a:ext cx="9071400" cy="369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sz="4400" b="0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Charactering Diseases</a:t>
            </a: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“</a:t>
            </a:r>
            <a:r>
              <a:rPr lang="en-US" sz="4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Camoni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lang="en-US" sz="4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Website</a:t>
            </a:r>
            <a:endParaRPr lang="he-IL" sz="4400" b="0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/>
          </a:p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 smtClean="0"/>
              <a:t>Roei</a:t>
            </a:r>
            <a:r>
              <a:rPr lang="en-US" sz="2000" dirty="0" smtClean="0"/>
              <a:t> </a:t>
            </a:r>
            <a:r>
              <a:rPr lang="en-US" sz="2000" dirty="0" err="1" smtClean="0"/>
              <a:t>Shlezinger</a:t>
            </a:r>
            <a:r>
              <a:rPr lang="en-US" sz="2000" dirty="0" smtClean="0"/>
              <a:t> and </a:t>
            </a:r>
            <a:r>
              <a:rPr lang="en-US" sz="2000" dirty="0" err="1" smtClean="0"/>
              <a:t>Ido</a:t>
            </a:r>
            <a:r>
              <a:rPr lang="en-US" sz="2000" dirty="0" smtClean="0"/>
              <a:t> </a:t>
            </a:r>
            <a:r>
              <a:rPr lang="en-US" sz="2000" dirty="0" err="1" smtClean="0"/>
              <a:t>Margaliot</a:t>
            </a:r>
            <a:endParaRPr lang="en-US" sz="2000" dirty="0" smtClean="0"/>
          </a:p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/>
              <a:t>Workshop in  Hebrew </a:t>
            </a:r>
            <a:r>
              <a:rPr lang="en-US" sz="2000" dirty="0" smtClean="0"/>
              <a:t>NLP </a:t>
            </a:r>
            <a:endParaRPr sz="2000" dirty="0"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152000" y="1656000"/>
            <a:ext cx="7631700" cy="53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3000" dirty="0" err="1">
                <a:solidFill>
                  <a:schemeClr val="bg2">
                    <a:lumMod val="50000"/>
                  </a:schemeClr>
                </a:solidFill>
              </a:rPr>
              <a:t>Camoni</a:t>
            </a: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" is a site that contains forums for people dealing with </a:t>
            </a:r>
            <a:r>
              <a:rPr lang="en-US" sz="3000" dirty="0" smtClean="0">
                <a:solidFill>
                  <a:schemeClr val="bg2">
                    <a:lumMod val="50000"/>
                  </a:schemeClr>
                </a:solidFill>
              </a:rPr>
              <a:t>diseases. </a:t>
            </a: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The forums are referred to as communities. </a:t>
            </a:r>
            <a:endParaRPr lang="en-US" sz="3000" dirty="0" smtClean="0">
              <a:solidFill>
                <a:schemeClr val="bg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sz="30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000" dirty="0" smtClean="0">
                <a:solidFill>
                  <a:schemeClr val="bg2">
                    <a:lumMod val="50000"/>
                  </a:schemeClr>
                </a:solidFill>
              </a:rPr>
              <a:t>The </a:t>
            </a: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communities serve as support and consultation groups for people in the same </a:t>
            </a:r>
            <a:r>
              <a:rPr lang="en-US" sz="3000" dirty="0" smtClean="0">
                <a:solidFill>
                  <a:schemeClr val="bg2">
                    <a:lumMod val="50000"/>
                  </a:schemeClr>
                </a:solidFill>
              </a:rPr>
              <a:t>situation and with medical experts.</a:t>
            </a:r>
            <a:endParaRPr lang="en-US" sz="30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000" dirty="0"/>
              <a:t/>
            </a:r>
            <a:br>
              <a:rPr lang="en-US" sz="3000" dirty="0"/>
            </a:br>
            <a:endParaRPr lang="en-US" sz="30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985320" y="1769040"/>
            <a:ext cx="811044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32000" marR="0" lvl="0" indent="-209339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000" y="1769040"/>
            <a:ext cx="8716591" cy="572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2666" y="267475"/>
            <a:ext cx="2373947" cy="1398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823767"/>
            <a:ext cx="10080625" cy="3912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2666" y="267475"/>
            <a:ext cx="2373947" cy="139860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ab363c495_3_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8ab363c495_3_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2000"/>
              </a:spcAft>
              <a:buNone/>
            </a:pPr>
            <a:endParaRPr/>
          </a:p>
        </p:txBody>
      </p:sp>
      <p:pic>
        <p:nvPicPr>
          <p:cNvPr id="121" name="Google Shape;121;g8ab363c495_3_2"/>
          <p:cNvPicPr preferRelativeResize="0"/>
          <p:nvPr/>
        </p:nvPicPr>
        <p:blipFill rotWithShape="1">
          <a:blip r:embed="rId3">
            <a:alphaModFix/>
          </a:blip>
          <a:srcRect b="34434"/>
          <a:stretch/>
        </p:blipFill>
        <p:spPr>
          <a:xfrm>
            <a:off x="2817725" y="145300"/>
            <a:ext cx="5317700" cy="69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cap="none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Special Chronic Diseases</a:t>
            </a:r>
            <a:endParaRPr lang="he-IL" sz="4400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926771" y="1769040"/>
            <a:ext cx="6487885" cy="2405796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2800" dirty="0" smtClean="0"/>
              <a:t>Diseases with wide range of symptoms, dynamics of flare and relaxation, with possible connections to different factors, which are not known yet in the medical literature.  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45103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</a:t>
            </a:r>
            <a:r>
              <a:rPr lang="en-US" sz="4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dirty="0"/>
          </a:p>
        </p:txBody>
      </p:sp>
      <p:sp>
        <p:nvSpPr>
          <p:cNvPr id="127" name="Google Shape;127;p3"/>
          <p:cNvSpPr/>
          <p:nvPr/>
        </p:nvSpPr>
        <p:spPr>
          <a:xfrm>
            <a:off x="2282400" y="1769040"/>
            <a:ext cx="5514480" cy="43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0836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chemeClr val="dk1"/>
                </a:solidFill>
              </a:rPr>
              <a:t>We </a:t>
            </a:r>
            <a:r>
              <a:rPr lang="en-US" sz="2800" dirty="0">
                <a:solidFill>
                  <a:schemeClr val="dk1"/>
                </a:solidFill>
              </a:rPr>
              <a:t>set out to find </a:t>
            </a:r>
            <a:r>
              <a:rPr lang="en-US" sz="2800" dirty="0" smtClean="0">
                <a:solidFill>
                  <a:schemeClr val="dk1"/>
                </a:solidFill>
              </a:rPr>
              <a:t>in these diseases connections </a:t>
            </a:r>
            <a:r>
              <a:rPr lang="en-US" sz="2800" dirty="0">
                <a:solidFill>
                  <a:schemeClr val="dk1"/>
                </a:solidFill>
              </a:rPr>
              <a:t>between different </a:t>
            </a:r>
            <a:r>
              <a:rPr lang="en-US" sz="2800" dirty="0" smtClean="0">
                <a:solidFill>
                  <a:schemeClr val="dk1"/>
                </a:solidFill>
              </a:rPr>
              <a:t>factors, symptoms </a:t>
            </a:r>
            <a:r>
              <a:rPr lang="en-US" sz="2800" dirty="0">
                <a:solidFill>
                  <a:schemeClr val="dk1"/>
                </a:solidFill>
              </a:rPr>
              <a:t>and treatments, and </a:t>
            </a:r>
            <a:r>
              <a:rPr lang="en-US" sz="2800" dirty="0" smtClean="0">
                <a:solidFill>
                  <a:schemeClr val="dk1"/>
                </a:solidFill>
              </a:rPr>
              <a:t>diseases progression.</a:t>
            </a:r>
            <a:endParaRPr sz="28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3193065"/>
            <a:ext cx="10080624" cy="422154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3491345" y="3319549"/>
            <a:ext cx="6467400" cy="11472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04000" y="301320"/>
            <a:ext cx="90714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513200" y="1361925"/>
            <a:ext cx="5684400" cy="17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bg2">
                    <a:lumMod val="50000"/>
                  </a:schemeClr>
                </a:solidFill>
              </a:rPr>
              <a:t>we got 5 communities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sz="1800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P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ain</a:t>
            </a:r>
            <a:endParaRPr sz="1800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Crohn and </a:t>
            </a:r>
            <a:r>
              <a:rPr lang="en-US" sz="1800" dirty="0" err="1" smtClean="0">
                <a:solidFill>
                  <a:schemeClr val="bg2">
                    <a:lumMod val="50000"/>
                  </a:schemeClr>
                </a:solidFill>
              </a:rPr>
              <a:t>Cololitis</a:t>
            </a:r>
            <a:endParaRPr sz="1800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J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oints</a:t>
            </a:r>
            <a:endParaRPr sz="1800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P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soriasis</a:t>
            </a:r>
            <a:endParaRPr sz="1800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ultiple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S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clerosis</a:t>
            </a:r>
            <a:endParaRPr sz="1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6202" y="2370051"/>
            <a:ext cx="10150448" cy="279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ab363c495_1_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cap="none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B</a:t>
            </a:r>
            <a:r>
              <a:rPr lang="en-US" sz="6000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</a:rPr>
              <a:t>rief </a:t>
            </a:r>
            <a:r>
              <a:rPr lang="en-US" sz="6000" cap="none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overview on the data</a:t>
            </a:r>
            <a:endParaRPr sz="6000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Google Shape;147;g8ab363c495_1_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2000"/>
              </a:spcAft>
              <a:buNone/>
            </a:pPr>
            <a:endParaRPr/>
          </a:p>
        </p:txBody>
      </p:sp>
      <p:pic>
        <p:nvPicPr>
          <p:cNvPr id="148" name="Google Shape;148;g8ab363c495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59" y="1702363"/>
            <a:ext cx="4971473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8ab363c495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6200" y="1702363"/>
            <a:ext cx="48672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dirty="0"/>
          </a:p>
        </p:txBody>
      </p:sp>
      <p:sp>
        <p:nvSpPr>
          <p:cNvPr id="155" name="Google Shape;155;p8"/>
          <p:cNvSpPr/>
          <p:nvPr/>
        </p:nvSpPr>
        <p:spPr>
          <a:xfrm>
            <a:off x="351206" y="1512832"/>
            <a:ext cx="9180529" cy="55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dirty="0"/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writer names</a:t>
            </a:r>
            <a:endParaRPr sz="2400" dirty="0">
              <a:solidFill>
                <a:schemeClr val="dk1"/>
              </a:solidFill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Remove HTML tags</a:t>
            </a:r>
            <a:endParaRPr sz="2400" dirty="0">
              <a:solidFill>
                <a:schemeClr val="dk1"/>
              </a:solidFill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signs, phone numbers, websites etc.</a:t>
            </a:r>
            <a:endParaRPr sz="2400" dirty="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YAP and save lemmas</a:t>
            </a:r>
            <a:endParaRPr sz="2400" dirty="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Topic analysis of all 5 communities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Remove punctuation, writes names and stop words in this data</a:t>
            </a:r>
            <a:endParaRPr sz="2400" dirty="0">
              <a:solidFill>
                <a:schemeClr val="dk1"/>
              </a:solidFill>
            </a:endParaRPr>
          </a:p>
          <a:p>
            <a:pPr marL="914400" marR="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Apply logistic regression using </a:t>
            </a:r>
            <a:r>
              <a:rPr lang="en-US" sz="2400" dirty="0" err="1">
                <a:solidFill>
                  <a:schemeClr val="dk1"/>
                </a:solidFill>
              </a:rPr>
              <a:t>Tfidf</a:t>
            </a:r>
            <a:r>
              <a:rPr lang="en-US" sz="2400" dirty="0">
                <a:solidFill>
                  <a:schemeClr val="dk1"/>
                </a:solidFill>
              </a:rPr>
              <a:t> transformer</a:t>
            </a:r>
            <a:endParaRPr sz="2400" dirty="0">
              <a:solidFill>
                <a:schemeClr val="dk1"/>
              </a:solidFill>
            </a:endParaRPr>
          </a:p>
          <a:p>
            <a:pPr marL="914400" marR="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Find model’s most weighted words in each community</a:t>
            </a:r>
            <a:endParaRPr sz="2400" dirty="0">
              <a:solidFill>
                <a:schemeClr val="dk1"/>
              </a:solidFill>
            </a:endParaRPr>
          </a:p>
          <a:p>
            <a:pPr marL="342900" marR="0" lvl="0" indent="-190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8ab253908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89275"/>
            <a:ext cx="5022925" cy="435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8ab253908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3900" y="2489296"/>
            <a:ext cx="5022925" cy="435055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8ab2539088_0_0"/>
          <p:cNvSpPr txBox="1"/>
          <p:nvPr/>
        </p:nvSpPr>
        <p:spPr>
          <a:xfrm>
            <a:off x="690825" y="651375"/>
            <a:ext cx="8896200" cy="22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Roboto"/>
              </a:rPr>
              <a:t>Normalized Confusion Matrices 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Roboto"/>
              </a:rPr>
              <a:t>for Logistic Regression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Training Set			</a:t>
            </a:r>
            <a:r>
              <a:rPr lang="en-US" sz="2500" dirty="0" smtClean="0">
                <a:solidFill>
                  <a:schemeClr val="bg2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 			 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		   Test Set</a:t>
            </a:r>
            <a:endParaRPr sz="2500" dirty="0">
              <a:solidFill>
                <a:schemeClr val="bg2">
                  <a:lumMod val="50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g8ab2539088_0_0"/>
          <p:cNvSpPr txBox="1"/>
          <p:nvPr/>
        </p:nvSpPr>
        <p:spPr>
          <a:xfrm>
            <a:off x="208362" y="5874331"/>
            <a:ext cx="2109965" cy="128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precision: 0.97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 recall: 0.94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 F1 score: 0.95 </a:t>
            </a:r>
            <a:r>
              <a:rPr lang="en-US" sz="1650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	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83196" y="5874331"/>
            <a:ext cx="3814618" cy="1291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 precision: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0.91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 recall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: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0.85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F1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</a:rPr>
              <a:t>score: 0.88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</a:rPr>
              <a:t>20 Most Weighted Words </a:t>
            </a:r>
            <a:endParaRPr sz="4400" dirty="0">
              <a:solidFill>
                <a:schemeClr val="dk1"/>
              </a:solidFill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</a:rPr>
              <a:t>per Community</a:t>
            </a:r>
            <a:endParaRPr dirty="0"/>
          </a:p>
        </p:txBody>
      </p:sp>
      <p:pic>
        <p:nvPicPr>
          <p:cNvPr id="181" name="Google Shape;18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1769052"/>
            <a:ext cx="2658886" cy="58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718" y="1704400"/>
            <a:ext cx="3045559" cy="58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025" y="1715527"/>
            <a:ext cx="2483426" cy="58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8ab363c495_2_22"/>
          <p:cNvSpPr/>
          <p:nvPr/>
        </p:nvSpPr>
        <p:spPr>
          <a:xfrm>
            <a:off x="504000" y="301320"/>
            <a:ext cx="90714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</a:rPr>
              <a:t>20 Most Weighted Words </a:t>
            </a:r>
            <a:endParaRPr sz="4400">
              <a:solidFill>
                <a:schemeClr val="dk1"/>
              </a:solidFill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</a:rPr>
              <a:t>per Community</a:t>
            </a:r>
            <a:endParaRPr/>
          </a:p>
        </p:txBody>
      </p:sp>
      <p:pic>
        <p:nvPicPr>
          <p:cNvPr id="189" name="Google Shape;189;g8ab363c495_2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715527"/>
            <a:ext cx="2483426" cy="58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8ab363c495_2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224" y="1715527"/>
            <a:ext cx="3495566" cy="58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618836" y="1923418"/>
            <a:ext cx="8524624" cy="100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In the presentation we presented the "</a:t>
            </a:r>
            <a:r>
              <a:rPr lang="en-US" sz="3000" dirty="0" err="1">
                <a:solidFill>
                  <a:schemeClr val="bg2">
                    <a:lumMod val="50000"/>
                  </a:schemeClr>
                </a:solidFill>
              </a:rPr>
              <a:t>Camoni</a:t>
            </a: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" site.</a:t>
            </a:r>
            <a:endParaRPr lang="en-US" sz="30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We showed how we cleaned our database.</a:t>
            </a:r>
            <a:endParaRPr lang="en-US" sz="30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We adapted an initial model, which identifies the characteristic words of each database.</a:t>
            </a:r>
            <a:endParaRPr lang="en-US" sz="30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2">
                    <a:lumMod val="50000"/>
                  </a:schemeClr>
                </a:solidFill>
              </a:rPr>
              <a:t>The high accuracy of our results reinforces the hypothesis that our database contains useful information</a:t>
            </a:r>
            <a:r>
              <a:rPr lang="en-US" sz="30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US" sz="3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504000" y="273611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 work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686618" y="1563120"/>
            <a:ext cx="8207700" cy="3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If we had more time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and staff,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we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would apply more complex tools for cleaning and organizing the text, and models that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analyse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 whole sentences.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Then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create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lists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of factors, symptoms and treatments and try to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extract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features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from each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response, tagged by names.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Once we had the features we would try to fit a model like Markov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chain and</a:t>
            </a:r>
            <a:r>
              <a:rPr sz="28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produce a model that describes the dynamic evolution of the disease.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ab363c495_2_13"/>
          <p:cNvSpPr txBox="1"/>
          <p:nvPr/>
        </p:nvSpPr>
        <p:spPr>
          <a:xfrm>
            <a:off x="1204025" y="1243500"/>
            <a:ext cx="8100600" cy="40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latin typeface="Roboto"/>
                <a:ea typeface="Roboto"/>
                <a:cs typeface="Roboto"/>
                <a:sym typeface="Roboto"/>
              </a:rPr>
              <a:t>Thank you,</a:t>
            </a:r>
            <a:endParaRPr sz="6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latin typeface="Roboto"/>
                <a:ea typeface="Roboto"/>
                <a:cs typeface="Roboto"/>
                <a:sym typeface="Roboto"/>
              </a:rPr>
              <a:t>and we will be happy to take questions.</a:t>
            </a:r>
            <a:endParaRPr sz="6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פרוסה">
  <a:themeElements>
    <a:clrScheme name="פרוסה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פרוסה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פרוסה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187</TotalTime>
  <Words>402</Words>
  <Application>Microsoft Office PowerPoint</Application>
  <PresentationFormat>מותאם אישית</PresentationFormat>
  <Paragraphs>69</Paragraphs>
  <Slides>17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4" baseType="lpstr">
      <vt:lpstr>Noto Sans Symbols</vt:lpstr>
      <vt:lpstr>Gisha</vt:lpstr>
      <vt:lpstr>Arial</vt:lpstr>
      <vt:lpstr>Wingdings 3</vt:lpstr>
      <vt:lpstr>Roboto</vt:lpstr>
      <vt:lpstr>Century Gothic</vt:lpstr>
      <vt:lpstr>פרוסה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Special Chronic Diseases</vt:lpstr>
      <vt:lpstr>מצגת של PowerPoint‏</vt:lpstr>
      <vt:lpstr>מצגת של PowerPoint‏</vt:lpstr>
      <vt:lpstr>מצגת של PowerPoint‏</vt:lpstr>
      <vt:lpstr>Brief overview on the data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RSHLE</cp:lastModifiedBy>
  <cp:revision>15</cp:revision>
  <dcterms:created xsi:type="dcterms:W3CDTF">2020-03-02T13:33:13Z</dcterms:created>
  <dcterms:modified xsi:type="dcterms:W3CDTF">2020-06-25T08:25:55Z</dcterms:modified>
</cp:coreProperties>
</file>